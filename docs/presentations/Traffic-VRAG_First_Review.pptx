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6350">
            <a:solidFill>
              <a:srgbClr val="1D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6350">
            <a:solidFill>
              <a:srgbClr val="1D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6350">
            <a:solidFill>
              <a:srgbClr val="1D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6350">
            <a:solidFill>
              <a:srgbClr val="1D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6350">
            <a:solidFill>
              <a:srgbClr val="1D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6350">
            <a:solidFill>
              <a:srgbClr val="1D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6350">
            <a:solidFill>
              <a:srgbClr val="1D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6350">
            <a:solidFill>
              <a:srgbClr val="1D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6350">
            <a:solidFill>
              <a:srgbClr val="1D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6350">
            <a:solidFill>
              <a:srgbClr val="1D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6350">
            <a:solidFill>
              <a:srgbClr val="1D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6350">
            <a:solidFill>
              <a:srgbClr val="1D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6350">
            <a:solidFill>
              <a:srgbClr val="1D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40080" y="2331720"/>
            <a:ext cx="731520" cy="63500"/>
          </a:xfrm>
          <a:prstGeom prst="rect">
            <a:avLst/>
          </a:prstGeom>
          <a:solidFill>
            <a:srgbClr val="F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25146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9BA4AC"/>
                </a:solidFill>
                <a:latin typeface="Consolas"/>
              </a:rPr>
              <a:t>FINAL-YEAR RESEARCH PROJECT  ·  FIRST PROJECT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278892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0" b="1" i="0">
                <a:solidFill>
                  <a:srgbClr val="E9E6E0"/>
                </a:solidFill>
                <a:latin typeface="Georgia"/>
              </a:rPr>
              <a:t>Traffic-VRAG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79476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 i="0">
                <a:solidFill>
                  <a:srgbClr val="E9E6E0"/>
                </a:solidFill>
                <a:latin typeface="Calibri"/>
              </a:rPr>
              <a:t>Video Reasoning &amp;  Retrieval-Augmented Generation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343400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9BA4AC"/>
                </a:solidFill>
                <a:latin typeface="Calibri"/>
              </a:rPr>
              <a:t>for cited, uncertainty-aware question answering over traffic surveillance video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9893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9E6E0"/>
                </a:solidFill>
                <a:latin typeface="Calibri"/>
              </a:rPr>
              <a:t>Mugesh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29107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BA4AC"/>
                </a:solidFill>
                <a:latin typeface="Calibri"/>
              </a:rPr>
              <a:t>Department of Computer Science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8B9299"/>
                </a:solidFill>
                <a:latin typeface="Consolas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Georgia"/>
              </a:rPr>
              <a:t>What this review covers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502920" cy="50800"/>
          </a:xfrm>
          <a:prstGeom prst="rect">
            <a:avLst/>
          </a:prstGeom>
          <a:solidFill>
            <a:srgbClr val="B1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B1741A"/>
                </a:solidFill>
                <a:latin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883664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A1F24"/>
                </a:solidFill>
                <a:latin typeface="Georgia"/>
              </a:rPr>
              <a:t>Problem statement &amp; motivation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78608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B1741A"/>
                </a:solidFill>
                <a:latin typeface="Consola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633472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A1F24"/>
                </a:solidFill>
                <a:latin typeface="Georgia"/>
              </a:rPr>
              <a:t>Gap in existing approaches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28415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B1741A"/>
                </a:solidFill>
                <a:latin typeface="Consolas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383279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A1F24"/>
                </a:solidFill>
                <a:latin typeface="Georgia"/>
              </a:rPr>
              <a:t>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78224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B1741A"/>
                </a:solidFill>
                <a:latin typeface="Consolas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413308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A1F24"/>
                </a:solidFill>
                <a:latin typeface="Georgia"/>
              </a:rPr>
              <a:t>Proposed approach &amp; system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28031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B1741A"/>
                </a:solidFill>
                <a:latin typeface="Consolas"/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882895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A1F24"/>
                </a:solidFill>
                <a:latin typeface="Georgia"/>
              </a:rPr>
              <a:t>Methodology, stage by stage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82880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B1741A"/>
                </a:solidFill>
                <a:latin typeface="Consolas"/>
              </a:rP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1883664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A1F24"/>
                </a:solidFill>
                <a:latin typeface="Georgia"/>
              </a:rPr>
              <a:t>Four research contributions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578608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B1741A"/>
                </a:solidFill>
                <a:latin typeface="Consolas"/>
              </a:rPr>
              <a:t>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2633472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A1F24"/>
                </a:solidFill>
                <a:latin typeface="Georgia"/>
              </a:rPr>
              <a:t>Technology stack &amp; implementation 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328415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B1741A"/>
                </a:solidFill>
                <a:latin typeface="Consolas"/>
              </a:rPr>
              <a:t>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3383279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A1F24"/>
                </a:solidFill>
                <a:latin typeface="Georgia"/>
              </a:rPr>
              <a:t>Sample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078224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B1741A"/>
                </a:solidFill>
                <a:latin typeface="Consolas"/>
              </a:rPr>
              <a:t>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413308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A1F24"/>
                </a:solidFill>
                <a:latin typeface="Georgia"/>
              </a:rPr>
              <a:t>Evaluation plan, limitations &amp; future 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9299"/>
                </a:solidFill>
                <a:latin typeface="Consolas"/>
              </a:rPr>
              <a:t>TRAFFIC-VRAG · FIRST PROJECT 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B9299"/>
                </a:solidFill>
                <a:latin typeface="Consola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8B9299"/>
                </a:solidFill>
                <a:latin typeface="Consolas"/>
              </a:rPr>
              <a:t>01 ·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Georgia"/>
              </a:rPr>
              <a:t>Video answers you can't verify aren't answers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502920" cy="50800"/>
          </a:xfrm>
          <a:prstGeom prst="rect">
            <a:avLst/>
          </a:prstGeom>
          <a:solidFill>
            <a:srgbClr val="B1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6400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1A1F24"/>
                </a:solidFill>
                <a:latin typeface="Calibri"/>
              </a:rPr>
              <a:t>A city intersection camera can see the same delivery van </a:t>
            </a:r>
            <a:r>
              <a:rPr sz="1600" b="1" i="0">
                <a:solidFill>
                  <a:srgbClr val="B1741A"/>
                </a:solidFill>
                <a:latin typeface="Calibri"/>
              </a:rPr>
              <a:t>eleven times in four minutes</a:t>
            </a:r>
            <a:r>
              <a:rPr sz="1600" b="0" i="0">
                <a:solidFill>
                  <a:srgbClr val="1A1F24"/>
                </a:solidFill>
                <a:latin typeface="Calibri"/>
              </a:rPr>
              <a:t> — different lanes, different angles, half of them occluded.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88920"/>
            <a:ext cx="64008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5A6570"/>
                </a:solidFill>
                <a:latin typeface="Calibri"/>
              </a:rPr>
              <a:t>Ask a general video-question-answering model “how many vans crossed?” and it answers in one confident sentence — often wrong, and with no way to check which frames it used.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94760"/>
            <a:ext cx="64008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 b="1">
                <a:solidFill>
                  <a:srgbClr val="B1741A"/>
                </a:solidFill>
                <a:latin typeface="Calibri"/>
              </a:rPr>
              <a:t>―  </a:t>
            </a:r>
            <a:r>
              <a:rPr sz="1450" b="1">
                <a:solidFill>
                  <a:srgbClr val="1A1F24"/>
                </a:solidFill>
                <a:latin typeface="Calibri"/>
              </a:rPr>
              <a:t>No persistent identity — </a:t>
            </a:r>
            <a:r>
              <a:rPr sz="1450">
                <a:solidFill>
                  <a:srgbClr val="1A1F24"/>
                </a:solidFill>
                <a:latin typeface="Calibri"/>
              </a:rPr>
              <a:t>the same vehicle seen in different clips is treated as unrelated sightings.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 b="1">
                <a:solidFill>
                  <a:srgbClr val="B1741A"/>
                </a:solidFill>
                <a:latin typeface="Calibri"/>
              </a:rPr>
              <a:t>―  </a:t>
            </a:r>
            <a:r>
              <a:rPr sz="1450" b="1">
                <a:solidFill>
                  <a:srgbClr val="1A1F24"/>
                </a:solidFill>
                <a:latin typeface="Calibri"/>
              </a:rPr>
              <a:t>No confidence signal — </a:t>
            </a:r>
            <a:r>
              <a:rPr sz="1450">
                <a:solidFill>
                  <a:srgbClr val="1A1F24"/>
                </a:solidFill>
                <a:latin typeface="Calibri"/>
              </a:rPr>
              <a:t>a guess and a certainty look identical in the final answer.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 b="1">
                <a:solidFill>
                  <a:srgbClr val="B1741A"/>
                </a:solidFill>
                <a:latin typeface="Calibri"/>
              </a:rPr>
              <a:t>―  </a:t>
            </a:r>
            <a:r>
              <a:rPr sz="1450" b="1">
                <a:solidFill>
                  <a:srgbClr val="1A1F24"/>
                </a:solidFill>
                <a:latin typeface="Calibri"/>
              </a:rPr>
              <a:t>No citations — </a:t>
            </a:r>
            <a:r>
              <a:rPr sz="1450">
                <a:solidFill>
                  <a:srgbClr val="1A1F24"/>
                </a:solidFill>
                <a:latin typeface="Calibri"/>
              </a:rPr>
              <a:t>nothing ties a claim back to a specific vehicle and timestamp.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691640"/>
            <a:ext cx="4114800" cy="4206240"/>
          </a:xfrm>
          <a:prstGeom prst="roundRect">
            <a:avLst>
              <a:gd name="adj" fmla="val 5000"/>
            </a:avLst>
          </a:prstGeom>
          <a:solidFill>
            <a:srgbClr val="111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26679" y="196596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9BA4AC"/>
                </a:solidFill>
                <a:latin typeface="Consolas"/>
              </a:rPr>
              <a:t>RESEARCH 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2331720"/>
            <a:ext cx="356616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E9E6E0"/>
                </a:solidFill>
                <a:latin typeface="Georgia"/>
              </a:rPr>
              <a:t>Is a system built to say </a:t>
            </a:r>
            <a:r>
              <a:rPr sz="1900" b="1" i="0">
                <a:solidFill>
                  <a:srgbClr val="F0A93B"/>
                </a:solidFill>
                <a:latin typeface="Georgia"/>
              </a:rPr>
              <a:t>“I'm not sure”</a:t>
            </a:r>
            <a:r>
              <a:rPr sz="1900" b="0" i="0">
                <a:solidFill>
                  <a:srgbClr val="E9E6E0"/>
                </a:solidFill>
                <a:latin typeface="Georgia"/>
              </a:rPr>
              <a:t> more useful for surveillance review than one that </a:t>
            </a:r>
            <a:r>
              <a:rPr sz="1900" b="1" i="0">
                <a:solidFill>
                  <a:srgbClr val="E46B62"/>
                </a:solidFill>
                <a:latin typeface="Georgia"/>
              </a:rPr>
              <a:t>always has an answer</a:t>
            </a:r>
            <a:r>
              <a:rPr sz="1900" b="0" i="0">
                <a:solidFill>
                  <a:srgbClr val="E9E6E0"/>
                </a:solidFill>
                <a:latin typeface="Georgia"/>
              </a:rPr>
              <a:t>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9299"/>
                </a:solidFill>
                <a:latin typeface="Consolas"/>
              </a:rPr>
              <a:t>TRAFFIC-VRAG · FIRST PROJECT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B9299"/>
                </a:solidFill>
                <a:latin typeface="Consola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8B9299"/>
                </a:solidFill>
                <a:latin typeface="Consolas"/>
              </a:rPr>
              <a:t>02 ·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Georgia"/>
              </a:rPr>
              <a:t>Why this matters, practically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502920" cy="50800"/>
          </a:xfrm>
          <a:prstGeom prst="rect">
            <a:avLst/>
          </a:prstGeom>
          <a:solidFill>
            <a:srgbClr val="B1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5257800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257800" cy="82296"/>
          </a:xfrm>
          <a:prstGeom prst="rect">
            <a:avLst/>
          </a:prstGeom>
          <a:solidFill>
            <a:srgbClr val="B1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39112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A1F24"/>
                </a:solidFill>
                <a:latin typeface="Georgia"/>
              </a:rPr>
              <a:t>Growing surveillance volume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32888"/>
            <a:ext cx="4754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A6570"/>
                </a:solidFill>
                <a:latin typeface="Calibri"/>
              </a:rPr>
              <a:t>More traffic cameras are deployed every year than there are analysts to review their footage — the bottleneck is attention, not capture.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783080"/>
            <a:ext cx="5257800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783080"/>
            <a:ext cx="5257800" cy="82296"/>
          </a:xfrm>
          <a:prstGeom prst="rect">
            <a:avLst/>
          </a:prstGeom>
          <a:solidFill>
            <a:srgbClr val="2C6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039112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A1F24"/>
                </a:solidFill>
                <a:latin typeface="Georgia"/>
              </a:rPr>
              <a:t>Investigations need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532888"/>
            <a:ext cx="4754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A6570"/>
                </a:solidFill>
                <a:latin typeface="Calibri"/>
              </a:rPr>
              <a:t>"Which vehicle, which frame, which timestamp" is what a traffic or security investigation actually asks for — not a confident paragraph.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31920"/>
            <a:ext cx="5257800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931920"/>
            <a:ext cx="5257800" cy="82296"/>
          </a:xfrm>
          <a:prstGeom prst="rect">
            <a:avLst/>
          </a:prstGeom>
          <a:solidFill>
            <a:srgbClr val="B84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87952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A1F24"/>
                </a:solidFill>
                <a:latin typeface="Georgia"/>
              </a:rPr>
              <a:t>Confident errors are costly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81728"/>
            <a:ext cx="4754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A6570"/>
                </a:solidFill>
                <a:latin typeface="Calibri"/>
              </a:rPr>
              <a:t>In safety- and law-adjacent settings, a wrong but confident answer is worse than a system that says the evidence is insufficient.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931920"/>
            <a:ext cx="5257800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3931920"/>
            <a:ext cx="5257800" cy="82296"/>
          </a:xfrm>
          <a:prstGeom prst="rect">
            <a:avLst/>
          </a:prstGeom>
          <a:solidFill>
            <a:srgbClr val="2C8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187952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A1F24"/>
                </a:solidFill>
                <a:latin typeface="Georgia"/>
              </a:rPr>
              <a:t>Verifiability is a design choice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681728"/>
            <a:ext cx="4754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A6570"/>
                </a:solidFill>
                <a:latin typeface="Calibri"/>
              </a:rPr>
              <a:t>Uncertainty-awareness and citation validation can be engineered in from the start, rather than bolted on after the fact.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9299"/>
                </a:solidFill>
                <a:latin typeface="Consolas"/>
              </a:rPr>
              <a:t>TRAFFIC-VRAG · FIRST PROJECT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B9299"/>
                </a:solidFill>
                <a:latin typeface="Consola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8B9299"/>
                </a:solidFill>
                <a:latin typeface="Consolas"/>
              </a:rPr>
              <a:t>03 · RELATED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Georgia"/>
              </a:rPr>
              <a:t>Where existing approaches fall short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502920" cy="50800"/>
          </a:xfrm>
          <a:prstGeom prst="rect">
            <a:avLst/>
          </a:prstGeom>
          <a:solidFill>
            <a:srgbClr val="B1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783080"/>
          <a:ext cx="108813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206240"/>
                <a:gridCol w="4297680"/>
              </a:tblGrid>
              <a:tr h="84124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E9E6E0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 marL="109728" marR="91440" marT="36576" marB="36576" anchor="ctr">
                    <a:solidFill>
                      <a:srgbClr val="1115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E9E6E0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L="109728" marR="91440" marT="36576" marB="36576" anchor="ctr">
                    <a:solidFill>
                      <a:srgbClr val="1115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E9E6E0"/>
                          </a:solidFill>
                          <a:latin typeface="Calibri"/>
                        </a:rPr>
                        <a:t>What's missing</a:t>
                      </a:r>
                    </a:p>
                  </a:txBody>
                  <a:tcPr marL="109728" marR="91440" marT="36576" marB="36576" anchor="ctr">
                    <a:solidFill>
                      <a:srgbClr val="11151A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F24"/>
                          </a:solidFill>
                          <a:latin typeface="Consolas"/>
                        </a:rPr>
                        <a:t>General video-QA / VLMs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F24"/>
                          </a:solidFill>
                          <a:latin typeface="Calibri"/>
                        </a:rPr>
                        <a:t>Answer a question about a clip directly from pixels + language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F24"/>
                          </a:solidFill>
                          <a:latin typeface="Calibri"/>
                        </a:rPr>
                        <a:t>No persistent identity across clips; no confidence modelling; answers are unfalsifiable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F24"/>
                          </a:solidFill>
                          <a:latin typeface="Consolas"/>
                        </a:rPr>
                        <a:t>Multi-object tracking (MOT)</a:t>
                      </a:r>
                    </a:p>
                  </a:txBody>
                  <a:tcPr marL="109728" marR="91440" marT="36576" marB="36576" anchor="ctr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F24"/>
                          </a:solidFill>
                          <a:latin typeface="Calibri"/>
                        </a:rPr>
                        <a:t>Detect and track objects within a video accurately</a:t>
                      </a:r>
                    </a:p>
                  </a:txBody>
                  <a:tcPr marL="109728" marR="91440" marT="36576" marB="36576" anchor="ctr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F24"/>
                          </a:solidFill>
                          <a:latin typeface="Calibri"/>
                        </a:rPr>
                        <a:t>No natural-language interface; doesn't reason over attributes or events</a:t>
                      </a:r>
                    </a:p>
                  </a:txBody>
                  <a:tcPr marL="109728" marR="91440" marT="36576" marB="36576" anchor="ctr">
                    <a:solidFill>
                      <a:srgbClr val="F7F5EF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F24"/>
                          </a:solidFill>
                          <a:latin typeface="Consolas"/>
                        </a:rPr>
                        <a:t>Knowledge-graph QA systems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F24"/>
                          </a:solidFill>
                          <a:latin typeface="Calibri"/>
                        </a:rPr>
                        <a:t>Structured, queryable facts with graph traversal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F24"/>
                          </a:solidFill>
                          <a:latin typeface="Calibri"/>
                        </a:rPr>
                        <a:t>Not built for continuous perception input; no video-grounded evidence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F24"/>
                          </a:solidFill>
                          <a:latin typeface="Consolas"/>
                        </a:rPr>
                        <a:t>This project</a:t>
                      </a:r>
                    </a:p>
                  </a:txBody>
                  <a:tcPr marL="109728" marR="91440" marT="36576" marB="36576" anchor="ctr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F24"/>
                          </a:solidFill>
                          <a:latin typeface="Calibri"/>
                        </a:rPr>
                        <a:t>Perception -&gt; tracked identity -&gt; graph -&gt; hybrid retrieval -&gt; cited, uncertainty-aware answers</a:t>
                      </a:r>
                    </a:p>
                  </a:txBody>
                  <a:tcPr marL="109728" marR="91440" marT="36576" marB="36576" anchor="ctr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F2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109728" marR="91440" marT="36576" marB="36576" anchor="ctr">
                    <a:solidFill>
                      <a:srgbClr val="F7F5E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9299"/>
                </a:solidFill>
                <a:latin typeface="Consolas"/>
              </a:rPr>
              <a:t>TRAFFIC-VRAG · FIRST PROJECT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B9299"/>
                </a:solidFill>
                <a:latin typeface="Consola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8B9299"/>
                </a:solidFill>
                <a:latin typeface="Consolas"/>
              </a:rPr>
              <a:t>04 ·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Georgia"/>
              </a:rPr>
              <a:t>What the system must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502920" cy="50800"/>
          </a:xfrm>
          <a:prstGeom prst="rect">
            <a:avLst/>
          </a:prstGeom>
          <a:solidFill>
            <a:srgbClr val="B1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542032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2542032" cy="777240"/>
          </a:xfrm>
          <a:prstGeom prst="roundRect">
            <a:avLst>
              <a:gd name="adj" fmla="val 6000"/>
            </a:avLst>
          </a:prstGeom>
          <a:solidFill>
            <a:srgbClr val="B1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93392"/>
            <a:ext cx="25420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Georgia"/>
              </a:rPr>
              <a:t>O1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816352"/>
            <a:ext cx="2148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1" i="0">
                <a:solidFill>
                  <a:srgbClr val="1A1F24"/>
                </a:solidFill>
                <a:latin typeface="Georgia"/>
              </a:rPr>
              <a:t>Resolve identity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520440"/>
            <a:ext cx="21488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80" b="0" i="0">
                <a:solidFill>
                  <a:srgbClr val="5A6570"/>
                </a:solidFill>
                <a:latin typeface="Calibri"/>
              </a:rPr>
              <a:t>Track every vehicle within a clip and re-link it across clips into one global identity.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4991" y="1828800"/>
            <a:ext cx="2542032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64991" y="1828800"/>
            <a:ext cx="2542032" cy="777240"/>
          </a:xfrm>
          <a:prstGeom prst="roundRect">
            <a:avLst>
              <a:gd name="adj" fmla="val 6000"/>
            </a:avLst>
          </a:prstGeom>
          <a:solidFill>
            <a:srgbClr val="2C6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64991" y="1993392"/>
            <a:ext cx="25420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Georgia"/>
              </a:rPr>
              <a:t>O2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59" y="2816352"/>
            <a:ext cx="2148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1" i="0">
                <a:solidFill>
                  <a:srgbClr val="1A1F24"/>
                </a:solidFill>
                <a:latin typeface="Georgia"/>
              </a:rPr>
              <a:t>Extract attributes with confidence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59" y="3520440"/>
            <a:ext cx="21488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80" b="0" i="0">
                <a:solidFill>
                  <a:srgbClr val="5A6570"/>
                </a:solidFill>
                <a:latin typeface="Calibri"/>
              </a:rPr>
              <a:t>Read colour, type and other attributes per sighting, and know when the evidence disagrees.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9904" y="1828800"/>
            <a:ext cx="2542032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89904" y="1828800"/>
            <a:ext cx="2542032" cy="777240"/>
          </a:xfrm>
          <a:prstGeom prst="roundRect">
            <a:avLst>
              <a:gd name="adj" fmla="val 6000"/>
            </a:avLst>
          </a:prstGeom>
          <a:solidFill>
            <a:srgbClr val="2C8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9904" y="1993392"/>
            <a:ext cx="25420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Georgia"/>
              </a:rPr>
              <a:t>O3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2816352"/>
            <a:ext cx="2148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1" i="0">
                <a:solidFill>
                  <a:srgbClr val="1A1F24"/>
                </a:solidFill>
                <a:latin typeface="Georgia"/>
              </a:rPr>
              <a:t>Build a queryable graph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3520440"/>
            <a:ext cx="21488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80" b="0" i="0">
                <a:solidFill>
                  <a:srgbClr val="5A6570"/>
                </a:solidFill>
                <a:latin typeface="Calibri"/>
              </a:rPr>
              <a:t>Store vehicles, attributes, events and their confidence in a knowledge graph, not a flat log.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14815" y="1828800"/>
            <a:ext cx="2542032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814815" y="1828800"/>
            <a:ext cx="2542032" cy="777240"/>
          </a:xfrm>
          <a:prstGeom prst="roundRect">
            <a:avLst>
              <a:gd name="adj" fmla="val 6000"/>
            </a:avLst>
          </a:prstGeom>
          <a:solidFill>
            <a:srgbClr val="B84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14815" y="1993392"/>
            <a:ext cx="25420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Georgia"/>
              </a:rPr>
              <a:t>O4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15983" y="2816352"/>
            <a:ext cx="2148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1" i="0">
                <a:solidFill>
                  <a:srgbClr val="1A1F24"/>
                </a:solidFill>
                <a:latin typeface="Georgia"/>
              </a:rPr>
              <a:t>Answer with citations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15983" y="3520440"/>
            <a:ext cx="21488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80" b="0" i="0">
                <a:solidFill>
                  <a:srgbClr val="5A6570"/>
                </a:solidFill>
                <a:latin typeface="Calibri"/>
              </a:rPr>
              <a:t>Generate natural-language answers where every claim traces to a global vehicle ID and timestamp.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9299"/>
                </a:solidFill>
                <a:latin typeface="Consolas"/>
              </a:rPr>
              <a:t>TRAFFIC-VRAG · FIRST PROJECT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B9299"/>
                </a:solidFill>
                <a:latin typeface="Consola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BA4AC"/>
                </a:solidFill>
                <a:latin typeface="Consolas"/>
              </a:rPr>
              <a:t>PROPOSED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E9E6E0"/>
                </a:solidFill>
                <a:latin typeface="Georgia"/>
              </a:rPr>
              <a:t>Admitting uncertainty beats </a:t>
            </a:r>
            <a:r>
              <a:rPr sz="3800" b="1" i="0">
                <a:solidFill>
                  <a:srgbClr val="F0A93B"/>
                </a:solidFill>
                <a:latin typeface="Georgia"/>
              </a:rPr>
              <a:t>confident hallucination.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9BA4AC"/>
                </a:solidFill>
                <a:latin typeface="Calibri"/>
              </a:rPr>
              <a:t>Every design decision follows from one line: resolve every sighting to one global vehicle, record what was observed vs. inferred, and answer only with a citation to a timecode — or decline.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880360"/>
            <a:ext cx="10881360" cy="3246120"/>
          </a:xfrm>
          <a:prstGeom prst="roundRect">
            <a:avLst>
              <a:gd name="adj" fmla="val 4000"/>
            </a:avLst>
          </a:prstGeom>
          <a:solidFill>
            <a:srgbClr val="1B2128"/>
          </a:solidFill>
          <a:ln w="12700">
            <a:solidFill>
              <a:srgbClr val="333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BA4AC"/>
                </a:solidFill>
                <a:latin typeface="Consolas"/>
              </a:rPr>
              <a:t>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01568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9E6E0"/>
                </a:solidFill>
                <a:latin typeface="Consolas"/>
              </a:rPr>
              <a:t>How many blue cars turned left between 08:30 and 08:35?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977639"/>
            <a:ext cx="9966960" cy="15240"/>
          </a:xfrm>
          <a:prstGeom prst="rect">
            <a:avLst/>
          </a:prstGeom>
          <a:solidFill>
            <a:srgbClr val="33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BA4AC"/>
                </a:solidFill>
                <a:latin typeface="Consolas"/>
              </a:rPr>
              <a:t>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480560"/>
            <a:ext cx="9966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E9E6E0"/>
                </a:solidFill>
                <a:latin typeface="Calibri"/>
              </a:rPr>
              <a:t>Two vehicles turned left in that window. One is blue — </a:t>
            </a:r>
            <a:r>
              <a:rPr sz="1500" b="1" i="0">
                <a:solidFill>
                  <a:srgbClr val="F0A93B"/>
                </a:solidFill>
                <a:latin typeface="Calibri"/>
              </a:rPr>
              <a:t>3 of 4 frames agree</a:t>
            </a:r>
            <a:r>
              <a:rPr sz="1500" b="0" i="0">
                <a:solidFill>
                  <a:srgbClr val="E9E6E0"/>
                </a:solidFill>
                <a:latin typeface="Calibri"/>
              </a:rPr>
              <a:t>. The second reads blue in </a:t>
            </a:r>
            <a:r>
              <a:rPr sz="1500" b="1" i="0">
                <a:solidFill>
                  <a:srgbClr val="79B1E6"/>
                </a:solidFill>
                <a:latin typeface="Calibri"/>
              </a:rPr>
              <a:t>only 1 of 3 frames</a:t>
            </a:r>
            <a:r>
              <a:rPr sz="1500" b="0" i="0">
                <a:solidFill>
                  <a:srgbClr val="E9E6E0"/>
                </a:solidFill>
                <a:latin typeface="Calibri"/>
              </a:rPr>
              <a:t>, so its colour is </a:t>
            </a:r>
            <a:r>
              <a:rPr sz="1500" b="1" i="0">
                <a:solidFill>
                  <a:srgbClr val="E46B62"/>
                </a:solidFill>
                <a:latin typeface="Calibri"/>
              </a:rPr>
              <a:t>uncertain</a:t>
            </a:r>
            <a:r>
              <a:rPr sz="1500" b="0" i="0">
                <a:solidFill>
                  <a:srgbClr val="E9E6E0"/>
                </a:solidFill>
                <a:latin typeface="Calibri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623560"/>
            <a:ext cx="1867204" cy="292608"/>
          </a:xfrm>
          <a:prstGeom prst="roundRect">
            <a:avLst>
              <a:gd name="adj" fmla="val 50000"/>
            </a:avLst>
          </a:prstGeom>
          <a:solidFill>
            <a:srgbClr val="111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623560"/>
            <a:ext cx="186720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9BA4AC"/>
                </a:solidFill>
                <a:latin typeface="Consolas"/>
              </a:rPr>
              <a:t>[veh_04 @ 08:31:12]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5623560"/>
            <a:ext cx="1867204" cy="292608"/>
          </a:xfrm>
          <a:prstGeom prst="roundRect">
            <a:avLst>
              <a:gd name="adj" fmla="val 50000"/>
            </a:avLst>
          </a:prstGeom>
          <a:solidFill>
            <a:srgbClr val="111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5623560"/>
            <a:ext cx="186720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9BA4AC"/>
                </a:solidFill>
                <a:latin typeface="Consolas"/>
              </a:rPr>
              <a:t>[veh_09 @ 08:33:40]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8B9299"/>
                </a:solidFill>
                <a:latin typeface="Consolas"/>
              </a:rPr>
              <a:t>05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F24"/>
                </a:solidFill>
                <a:latin typeface="Georgia"/>
              </a:rPr>
              <a:t>Five stages, one file-based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502920" cy="50800"/>
          </a:xfrm>
          <a:prstGeom prst="rect">
            <a:avLst/>
          </a:prstGeom>
          <a:solidFill>
            <a:srgbClr val="B1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A6570"/>
                </a:solidFill>
                <a:latin typeface="Calibri"/>
              </a:rPr>
              <a:t>Every arrow below is a JSON file on disk — no stage hands another a Python object, so any run can be inspected or re-run stage by stage.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57400"/>
            <a:ext cx="196596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B174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057400"/>
            <a:ext cx="1965960" cy="457200"/>
          </a:xfrm>
          <a:prstGeom prst="roundRect">
            <a:avLst>
              <a:gd name="adj" fmla="val 8000"/>
            </a:avLst>
          </a:prstGeom>
          <a:solidFill>
            <a:srgbClr val="B1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12264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Georgia"/>
              </a:rPr>
              <a:t>PERCEPTION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B1741A"/>
                </a:solidFill>
                <a:latin typeface="Consolas"/>
              </a:rPr>
              <a:t>M1–M3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08960"/>
            <a:ext cx="1691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5A6570"/>
                </a:solidFill>
                <a:latin typeface="Calibri"/>
              </a:rPr>
              <a:t>Ingest, detect,
track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06040" y="3223260.0"/>
            <a:ext cx="256032" cy="0.0"/>
          </a:xfrm>
          <a:prstGeom prst="line">
            <a:avLst/>
          </a:prstGeom>
          <a:ln w="19050">
            <a:solidFill>
              <a:srgbClr val="8B92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62072" y="2057400"/>
            <a:ext cx="196596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2C6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62072" y="2057400"/>
            <a:ext cx="1965960" cy="457200"/>
          </a:xfrm>
          <a:prstGeom prst="roundRect">
            <a:avLst>
              <a:gd name="adj" fmla="val 8000"/>
            </a:avLst>
          </a:prstGeom>
          <a:solidFill>
            <a:srgbClr val="2C6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62072" y="2112264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Georgia"/>
              </a:rPr>
              <a:t>SEMANTIC CORRECTION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62072" y="265176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2C68A8"/>
                </a:solidFill>
                <a:latin typeface="Consolas"/>
              </a:rPr>
              <a:t>M4–M8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9232" y="3108960"/>
            <a:ext cx="1691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5A6570"/>
                </a:solidFill>
                <a:latin typeface="Calibri"/>
              </a:rPr>
              <a:t>Associate, attribute,
vote, link, confirm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28032" y="3223260.0"/>
            <a:ext cx="256032" cy="0.0"/>
          </a:xfrm>
          <a:prstGeom prst="line">
            <a:avLst/>
          </a:prstGeom>
          <a:ln w="19050">
            <a:solidFill>
              <a:srgbClr val="8B92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84064" y="2057400"/>
            <a:ext cx="196596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2C80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84064" y="2057400"/>
            <a:ext cx="1965960" cy="457200"/>
          </a:xfrm>
          <a:prstGeom prst="roundRect">
            <a:avLst>
              <a:gd name="adj" fmla="val 8000"/>
            </a:avLst>
          </a:prstGeom>
          <a:solidFill>
            <a:srgbClr val="2C8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84064" y="2112264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Georgia"/>
              </a:rPr>
              <a:t>KNOWLEDGE GRAPH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84064" y="265176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2C8058"/>
                </a:solidFill>
                <a:latin typeface="Consolas"/>
              </a:rPr>
              <a:t>M9–M10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21224" y="3108960"/>
            <a:ext cx="1691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5A6570"/>
                </a:solidFill>
                <a:latin typeface="Calibri"/>
              </a:rPr>
              <a:t>Events,
Neo4j graph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50024" y="3223260.0"/>
            <a:ext cx="256032" cy="0.0"/>
          </a:xfrm>
          <a:prstGeom prst="line">
            <a:avLst/>
          </a:prstGeom>
          <a:ln w="19050">
            <a:solidFill>
              <a:srgbClr val="8B92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06056" y="2057400"/>
            <a:ext cx="196596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B174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06056" y="2057400"/>
            <a:ext cx="1965960" cy="457200"/>
          </a:xfrm>
          <a:prstGeom prst="roundRect">
            <a:avLst>
              <a:gd name="adj" fmla="val 8000"/>
            </a:avLst>
          </a:prstGeom>
          <a:solidFill>
            <a:srgbClr val="B1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06056" y="2112264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Georgia"/>
              </a:rPr>
              <a:t>RETRIEVAL &amp; REASONING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06056" y="265176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B1741A"/>
                </a:solidFill>
                <a:latin typeface="Consolas"/>
              </a:rPr>
              <a:t>M11–M13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43216" y="3108960"/>
            <a:ext cx="1691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5A6570"/>
                </a:solidFill>
                <a:latin typeface="Calibri"/>
              </a:rPr>
              <a:t>Index, hybrid
retrieve, answer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72016" y="3223260.0"/>
            <a:ext cx="256032" cy="0.0"/>
          </a:xfrm>
          <a:prstGeom prst="line">
            <a:avLst/>
          </a:prstGeom>
          <a:ln w="19050">
            <a:solidFill>
              <a:srgbClr val="8B92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528048" y="2057400"/>
            <a:ext cx="196596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5A6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528048" y="2057400"/>
            <a:ext cx="1965960" cy="457200"/>
          </a:xfrm>
          <a:prstGeom prst="roundRect">
            <a:avLst>
              <a:gd name="adj" fmla="val 8000"/>
            </a:avLst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28048" y="2112264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Georgia"/>
              </a:rPr>
              <a:t>PRODUCT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28048" y="265176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5A6570"/>
                </a:solidFill>
                <a:latin typeface="Consolas"/>
              </a:rPr>
              <a:t>M14–M17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65208" y="3108960"/>
            <a:ext cx="1691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5A6570"/>
                </a:solidFill>
                <a:latin typeface="Calibri"/>
              </a:rPr>
              <a:t>API, UI, eval,
deploy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4663440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1">
                <a:solidFill>
                  <a:srgbClr val="5A6570"/>
                </a:solidFill>
                <a:latin typeface="Calibri"/>
              </a:rPr>
              <a:t>Offline, once per video: M1–M11 build the index. Per question: M12–M13 retrieve and answer. Always on: M14–M17 (API, UI, eval harness, Docker deployment).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9299"/>
                </a:solidFill>
                <a:latin typeface="Consolas"/>
              </a:rPr>
              <a:t>TRAFFIC-VRAG · FIRST PROJECT REVIEW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B9299"/>
                </a:solidFill>
                <a:latin typeface="Consola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8B9299"/>
                </a:solidFill>
                <a:latin typeface="Consolas"/>
              </a:rPr>
              <a:t>06 · METHODOLOGY  ·  PART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Georgia"/>
              </a:rPr>
              <a:t>Perception — from pixels to tracked vehicles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502920" cy="50800"/>
          </a:xfrm>
          <a:prstGeom prst="rect">
            <a:avLst/>
          </a:prstGeom>
          <a:solidFill>
            <a:srgbClr val="B1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42900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82296" cy="3566160"/>
          </a:xfrm>
          <a:prstGeom prst="rect">
            <a:avLst/>
          </a:prstGeom>
          <a:solidFill>
            <a:srgbClr val="B1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93852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1741A"/>
                </a:solidFill>
                <a:latin typeface="Consolas"/>
              </a:rPr>
              <a:t>M1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212848"/>
            <a:ext cx="3108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F24"/>
                </a:solidFill>
                <a:latin typeface="Georgia"/>
              </a:rPr>
              <a:t>Ingest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542032"/>
            <a:ext cx="31089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A6570"/>
                </a:solidFill>
                <a:latin typeface="Calibri"/>
              </a:rPr>
              <a:t>OpenCV samples frames on a fixed interval and writes fixed-length clips with accurate wall-clock timestamps derived from the video's real fps.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9392" y="1828800"/>
            <a:ext cx="342900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9392" y="1828800"/>
            <a:ext cx="82296" cy="3566160"/>
          </a:xfrm>
          <a:prstGeom prst="rect">
            <a:avLst/>
          </a:prstGeom>
          <a:solidFill>
            <a:srgbClr val="B1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93852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1741A"/>
                </a:solidFill>
                <a:latin typeface="Consolas"/>
              </a:rPr>
              <a:t>M2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212848"/>
            <a:ext cx="3108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F24"/>
                </a:solidFill>
                <a:latin typeface="Georgia"/>
              </a:rPr>
              <a:t>Detect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542032"/>
            <a:ext cx="31089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A6570"/>
                </a:solidFill>
                <a:latin typeface="Calibri"/>
              </a:rPr>
              <a:t>YOLOv11m runs per frame, producing a vehicle bounding box, class and confidence score for every detection in a clip.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18704" y="1828800"/>
            <a:ext cx="342900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18704" y="1828800"/>
            <a:ext cx="82296" cy="3566160"/>
          </a:xfrm>
          <a:prstGeom prst="rect">
            <a:avLst/>
          </a:prstGeom>
          <a:solidFill>
            <a:srgbClr val="B1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19872" y="193852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1741A"/>
                </a:solidFill>
                <a:latin typeface="Consolas"/>
              </a:rPr>
              <a:t>M3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9872" y="2212848"/>
            <a:ext cx="3108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F24"/>
                </a:solidFill>
                <a:latin typeface="Georgia"/>
              </a:rPr>
              <a:t>Track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9872" y="2542032"/>
            <a:ext cx="31089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A6570"/>
                </a:solidFill>
                <a:latin typeface="Calibri"/>
              </a:rPr>
              <a:t>ByteTrack associates detections into tracklets frame to frame; OSNet re-identification embeddings give each tracklet an appearance vector.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9299"/>
                </a:solidFill>
                <a:latin typeface="Consolas"/>
              </a:rPr>
              <a:t>TRAFFIC-VRAG · FIRST PROJECT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B9299"/>
                </a:solidFill>
                <a:latin typeface="Consola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8B9299"/>
                </a:solidFill>
                <a:latin typeface="Consolas"/>
              </a:rPr>
              <a:t>06 · METHODOLOGY  ·  PART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A1F24"/>
                </a:solidFill>
                <a:latin typeface="Georgia"/>
              </a:rPr>
              <a:t>Semantic correction — where four of five stages are contributions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502920" cy="50800"/>
          </a:xfrm>
          <a:prstGeom prst="rect">
            <a:avLst/>
          </a:prstGeom>
          <a:solidFill>
            <a:srgbClr val="B1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084831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2084831" cy="73152"/>
          </a:xfrm>
          <a:prstGeom prst="rect">
            <a:avLst/>
          </a:prstGeom>
          <a:solidFill>
            <a:srgbClr val="2C6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029968"/>
            <a:ext cx="181051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68A8"/>
                </a:solidFill>
                <a:latin typeface="Consolas"/>
              </a:rPr>
              <a:t>M4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66543" y="2011680"/>
            <a:ext cx="343814" cy="292608"/>
          </a:xfrm>
          <a:prstGeom prst="roundRect">
            <a:avLst>
              <a:gd name="adj" fmla="val 50000"/>
            </a:avLst>
          </a:prstGeom>
          <a:solidFill>
            <a:srgbClr val="E2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66543" y="2011680"/>
            <a:ext cx="34381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2C68A8"/>
                </a:solidFill>
                <a:latin typeface="Consolas"/>
              </a:rPr>
              <a:t>C3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95728"/>
            <a:ext cx="176479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F24"/>
                </a:solidFill>
                <a:latin typeface="Georgia"/>
              </a:rPr>
              <a:t>Associate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788920"/>
            <a:ext cx="1764791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80" b="0" i="0">
                <a:solidFill>
                  <a:srgbClr val="5A6570"/>
                </a:solidFill>
                <a:latin typeface="Calibri"/>
              </a:rPr>
              <a:t>Deterministic gate merges tracklets split by occlusion.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25495" y="1828800"/>
            <a:ext cx="2084831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25495" y="1828800"/>
            <a:ext cx="2084831" cy="73152"/>
          </a:xfrm>
          <a:prstGeom prst="rect">
            <a:avLst/>
          </a:prstGeom>
          <a:solidFill>
            <a:srgbClr val="8B92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90087" y="2029968"/>
            <a:ext cx="181051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8B9299"/>
                </a:solidFill>
                <a:latin typeface="Consolas"/>
              </a:rPr>
              <a:t>M5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0087" y="2395728"/>
            <a:ext cx="176479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F24"/>
                </a:solidFill>
                <a:latin typeface="Georgia"/>
              </a:rPr>
              <a:t>Attribute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0087" y="2788920"/>
            <a:ext cx="1764791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80" b="0" i="0">
                <a:solidFill>
                  <a:srgbClr val="5A6570"/>
                </a:solidFill>
                <a:latin typeface="Calibri"/>
              </a:rPr>
              <a:t>Florence-2 VLM reads colour / type per crop.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10910" y="1828800"/>
            <a:ext cx="2084831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10910" y="1828800"/>
            <a:ext cx="2084831" cy="73152"/>
          </a:xfrm>
          <a:prstGeom prst="rect">
            <a:avLst/>
          </a:prstGeom>
          <a:solidFill>
            <a:srgbClr val="2C6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75502" y="2029968"/>
            <a:ext cx="181051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68A8"/>
                </a:solidFill>
                <a:latin typeface="Consolas"/>
              </a:rPr>
              <a:t>M6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37373" y="2011680"/>
            <a:ext cx="343814" cy="292608"/>
          </a:xfrm>
          <a:prstGeom prst="roundRect">
            <a:avLst>
              <a:gd name="adj" fmla="val 50000"/>
            </a:avLst>
          </a:prstGeom>
          <a:solidFill>
            <a:srgbClr val="E2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37373" y="2011680"/>
            <a:ext cx="34381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2C68A8"/>
                </a:solidFill>
                <a:latin typeface="Consolas"/>
              </a:rPr>
              <a:t>C2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75502" y="2395728"/>
            <a:ext cx="176479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F24"/>
                </a:solidFill>
                <a:latin typeface="Georgia"/>
              </a:rPr>
              <a:t>Vote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75502" y="2788920"/>
            <a:ext cx="1764791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80" b="0" i="0">
                <a:solidFill>
                  <a:srgbClr val="5A6570"/>
                </a:solidFill>
                <a:latin typeface="Calibri"/>
              </a:rPr>
              <a:t>Confidence-weighted vote decides each attribute.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96325" y="1828800"/>
            <a:ext cx="2084831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196325" y="1828800"/>
            <a:ext cx="2084831" cy="73152"/>
          </a:xfrm>
          <a:prstGeom prst="rect">
            <a:avLst/>
          </a:prstGeom>
          <a:solidFill>
            <a:srgbClr val="2C6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60917" y="2029968"/>
            <a:ext cx="181051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68A8"/>
                </a:solidFill>
                <a:latin typeface="Consolas"/>
              </a:rPr>
              <a:t>M7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22788" y="2011680"/>
            <a:ext cx="343814" cy="292608"/>
          </a:xfrm>
          <a:prstGeom prst="roundRect">
            <a:avLst>
              <a:gd name="adj" fmla="val 50000"/>
            </a:avLst>
          </a:prstGeom>
          <a:solidFill>
            <a:srgbClr val="E2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22788" y="2011680"/>
            <a:ext cx="34381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2C68A8"/>
                </a:solidFill>
                <a:latin typeface="Consolas"/>
              </a:rPr>
              <a:t>C4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17" y="2395728"/>
            <a:ext cx="176479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F24"/>
                </a:solidFill>
                <a:latin typeface="Georgia"/>
              </a:rPr>
              <a:t>Link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17" y="2788920"/>
            <a:ext cx="1764791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80" b="0" i="0">
                <a:solidFill>
                  <a:srgbClr val="5A6570"/>
                </a:solidFill>
                <a:latin typeface="Calibri"/>
              </a:rPr>
              <a:t>Semantically-gated Hungarian assignment gives one global ID across clips.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81740" y="1828800"/>
            <a:ext cx="2084831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381740" y="1828800"/>
            <a:ext cx="2084831" cy="73152"/>
          </a:xfrm>
          <a:prstGeom prst="rect">
            <a:avLst/>
          </a:prstGeom>
          <a:solidFill>
            <a:srgbClr val="2C6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46332" y="2029968"/>
            <a:ext cx="181051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68A8"/>
                </a:solidFill>
                <a:latin typeface="Consolas"/>
              </a:rPr>
              <a:t>M8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808203" y="2011680"/>
            <a:ext cx="343814" cy="292608"/>
          </a:xfrm>
          <a:prstGeom prst="roundRect">
            <a:avLst>
              <a:gd name="adj" fmla="val 50000"/>
            </a:avLst>
          </a:prstGeom>
          <a:solidFill>
            <a:srgbClr val="E2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808203" y="2011680"/>
            <a:ext cx="34381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2C68A8"/>
                </a:solidFill>
                <a:latin typeface="Consolas"/>
              </a:rPr>
              <a:t>C2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46332" y="2395728"/>
            <a:ext cx="176479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F24"/>
                </a:solidFill>
                <a:latin typeface="Georgia"/>
              </a:rPr>
              <a:t>Confirm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46332" y="2788920"/>
            <a:ext cx="1764791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80" b="0" i="0">
                <a:solidFill>
                  <a:srgbClr val="5A6570"/>
                </a:solidFill>
                <a:latin typeface="Calibri"/>
              </a:rPr>
              <a:t>Best crop per global vehicle re-checked once more.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62356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8B9299"/>
                </a:solidFill>
                <a:latin typeface="Calibri"/>
              </a:rPr>
              <a:t>C2 / C3 / C4 mark the research contributions detailed on slide 12.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9299"/>
                </a:solidFill>
                <a:latin typeface="Consolas"/>
              </a:rPr>
              <a:t>TRAFFIC-VRAG · FIRST PROJECT REVIEW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B9299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8B9299"/>
                </a:solidFill>
                <a:latin typeface="Consolas"/>
              </a:rPr>
              <a:t>06 · METHODOLOGY  ·  PART 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F24"/>
                </a:solidFill>
                <a:latin typeface="Georgia"/>
              </a:rPr>
              <a:t>Knowledge graph, retrieval &amp; reasoning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502920" cy="50800"/>
          </a:xfrm>
          <a:prstGeom prst="rect">
            <a:avLst/>
          </a:prstGeom>
          <a:solidFill>
            <a:srgbClr val="B1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73152" cy="786384"/>
          </a:xfrm>
          <a:prstGeom prst="rect">
            <a:avLst/>
          </a:prstGeom>
          <a:solidFill>
            <a:srgbClr val="2C8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11096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C8058"/>
                </a:solidFill>
                <a:latin typeface="Consolas"/>
              </a:rPr>
              <a:t>M9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1892808"/>
            <a:ext cx="1920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F24"/>
                </a:solidFill>
                <a:latin typeface="Georgia"/>
              </a:rPr>
              <a:t>Events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1874520"/>
            <a:ext cx="7498079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5A6570"/>
                </a:solidFill>
                <a:latin typeface="Calibri"/>
              </a:rPr>
              <a:t>Rule-based detection of turns, stops and co-presence between tracked vehicles.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679192"/>
            <a:ext cx="10881360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679192"/>
            <a:ext cx="73152" cy="786384"/>
          </a:xfrm>
          <a:prstGeom prst="rect">
            <a:avLst/>
          </a:prstGeom>
          <a:solidFill>
            <a:srgbClr val="2C8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807208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C8058"/>
                </a:solidFill>
                <a:latin typeface="Consolas"/>
              </a:rPr>
              <a:t>M10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2788920"/>
            <a:ext cx="1920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F24"/>
                </a:solidFill>
                <a:latin typeface="Georgia"/>
              </a:rPr>
              <a:t>Build KG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2770632"/>
            <a:ext cx="7498079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5A6570"/>
                </a:solidFill>
                <a:latin typeface="Calibri"/>
              </a:rPr>
              <a:t>Neo4j graph — attribute nodes carry confidence and the full vote distribution, not just the winner.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75304"/>
            <a:ext cx="10881360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575304"/>
            <a:ext cx="73152" cy="786384"/>
          </a:xfrm>
          <a:prstGeom prst="rect">
            <a:avLst/>
          </a:prstGeom>
          <a:solidFill>
            <a:srgbClr val="B1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1741A"/>
                </a:solidFill>
                <a:latin typeface="Consolas"/>
              </a:rPr>
              <a:t>M11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3685032"/>
            <a:ext cx="1920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F24"/>
                </a:solidFill>
                <a:latin typeface="Georgia"/>
              </a:rPr>
              <a:t>Index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3666744"/>
            <a:ext cx="7498079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5A6570"/>
                </a:solidFill>
                <a:latin typeface="Calibri"/>
              </a:rPr>
              <a:t>ChromaDB vector store of object-timeline summaries and events (all-MiniLM-L6-v2 embeddings).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471416"/>
            <a:ext cx="10881360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471416"/>
            <a:ext cx="73152" cy="786384"/>
          </a:xfrm>
          <a:prstGeom prst="rect">
            <a:avLst/>
          </a:prstGeom>
          <a:solidFill>
            <a:srgbClr val="B1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599432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1741A"/>
                </a:solidFill>
                <a:latin typeface="Consolas"/>
              </a:rPr>
              <a:t>M12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4581144"/>
            <a:ext cx="1920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F24"/>
                </a:solidFill>
                <a:latin typeface="Georgia"/>
              </a:rPr>
              <a:t>Retrieve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60" y="4562856"/>
            <a:ext cx="7498079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5A6570"/>
                </a:solidFill>
                <a:latin typeface="Calibri"/>
              </a:rPr>
              <a:t>Hybrid retrieval: templated Cypher (never free-form LLM SQL) + vector search, fused by Reciprocal Rank Fusion.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367528"/>
            <a:ext cx="10881360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5367528"/>
            <a:ext cx="73152" cy="786384"/>
          </a:xfrm>
          <a:prstGeom prst="rect">
            <a:avLst/>
          </a:prstGeom>
          <a:solidFill>
            <a:srgbClr val="B1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495544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1741A"/>
                </a:solidFill>
                <a:latin typeface="Consolas"/>
              </a:rPr>
              <a:t>M13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83080" y="5477256"/>
            <a:ext cx="1920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F24"/>
                </a:solidFill>
                <a:latin typeface="Georgia"/>
              </a:rPr>
              <a:t>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5458968"/>
            <a:ext cx="7498079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5A6570"/>
                </a:solidFill>
                <a:latin typeface="Calibri"/>
              </a:rPr>
              <a:t>Grounded generation (Gemini); every citation is validated against the graph before it ships.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9299"/>
                </a:solidFill>
                <a:latin typeface="Consolas"/>
              </a:rPr>
              <a:t>TRAFFIC-VRAG · FIRST PROJECT 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B9299"/>
                </a:solidFill>
                <a:latin typeface="Consola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8B9299"/>
                </a:solidFill>
                <a:latin typeface="Consolas"/>
              </a:rPr>
              <a:t>07 ·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Georgia"/>
              </a:rPr>
              <a:t>Four things this project claims as novel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502920" cy="50800"/>
          </a:xfrm>
          <a:prstGeom prst="rect">
            <a:avLst/>
          </a:prstGeom>
          <a:solidFill>
            <a:srgbClr val="B1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5257800" cy="19933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777240" cy="777240"/>
          </a:xfrm>
          <a:prstGeom prst="rect">
            <a:avLst/>
          </a:prstGeom>
          <a:solidFill>
            <a:srgbClr val="1A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11096"/>
            <a:ext cx="777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Georgia"/>
              </a:rPr>
              <a:t>C1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920240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1A1F24"/>
                </a:solidFill>
                <a:latin typeface="Georgia"/>
              </a:rPr>
              <a:t>System-wide uncertainty discipline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79192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5A6570"/>
                </a:solidFill>
                <a:latin typeface="Calibri"/>
              </a:rPr>
              <a:t>An “uncertain” flag set at extraction is honoured by every later stage; deterministic questions skip the LLM; every citation is checked against the graph before display.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474720"/>
            <a:ext cx="881481" cy="292608"/>
          </a:xfrm>
          <a:prstGeom prst="roundRect">
            <a:avLst>
              <a:gd name="adj" fmla="val 50000"/>
            </a:avLst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474720"/>
            <a:ext cx="881481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1A1F24"/>
                </a:solidFill>
                <a:latin typeface="Consolas"/>
              </a:rPr>
              <a:t>M5 → M13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783080"/>
            <a:ext cx="5257800" cy="19933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783080"/>
            <a:ext cx="777240" cy="777240"/>
          </a:xfrm>
          <a:prstGeom prst="rect">
            <a:avLst/>
          </a:prstGeom>
          <a:solidFill>
            <a:srgbClr val="B1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1911096"/>
            <a:ext cx="777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Georgia"/>
              </a:rPr>
              <a:t>C2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1920240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1A1F24"/>
                </a:solidFill>
                <a:latin typeface="Georgia"/>
              </a:rPr>
              <a:t>Weighted voting + best-shot confirmation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679192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5A6570"/>
                </a:solidFill>
                <a:latin typeface="Calibri"/>
              </a:rPr>
              <a:t>Each attribute is decided by a confidence-weighted vote across frames, then the single best crop per global vehicle is re-checked once more.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347472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474720"/>
            <a:ext cx="79187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B1741A"/>
                </a:solidFill>
                <a:latin typeface="Consolas"/>
              </a:rPr>
              <a:t>M6 · M8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995928"/>
            <a:ext cx="5257800" cy="19933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995928"/>
            <a:ext cx="777240" cy="777240"/>
          </a:xfrm>
          <a:prstGeom prst="rect">
            <a:avLst/>
          </a:prstGeom>
          <a:solidFill>
            <a:srgbClr val="2C6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123944"/>
            <a:ext cx="777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Georgia"/>
              </a:rPr>
              <a:t>C3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4133088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1A1F24"/>
                </a:solidFill>
                <a:latin typeface="Georgia"/>
              </a:rPr>
              <a:t>Deterministic gated intra-clip association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892040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5A6570"/>
                </a:solidFill>
                <a:latin typeface="Calibri"/>
              </a:rPr>
              <a:t>A rule-based, fully explainable gate merges tracklets split by occlusion — no learned matcher, every merge is logged with its reason.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5687568"/>
            <a:ext cx="343814" cy="292608"/>
          </a:xfrm>
          <a:prstGeom prst="roundRect">
            <a:avLst>
              <a:gd name="adj" fmla="val 50000"/>
            </a:avLst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687568"/>
            <a:ext cx="34381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2C68A8"/>
                </a:solidFill>
                <a:latin typeface="Consolas"/>
              </a:rPr>
              <a:t>M4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995928"/>
            <a:ext cx="5257800" cy="19933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3995928"/>
            <a:ext cx="777240" cy="777240"/>
          </a:xfrm>
          <a:prstGeom prst="rect">
            <a:avLst/>
          </a:prstGeom>
          <a:solidFill>
            <a:srgbClr val="2C8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72200" y="4123944"/>
            <a:ext cx="777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Georgia"/>
              </a:rPr>
              <a:t>C4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4133088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1A1F24"/>
                </a:solidFill>
                <a:latin typeface="Georgia"/>
              </a:rPr>
              <a:t>Semantically-gated cross-clip linking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892040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5A6570"/>
                </a:solidFill>
                <a:latin typeface="Calibri"/>
              </a:rPr>
              <a:t>Hungarian assignment over appearance + attribute similarity, gated to leave a pair unlinked rather than force a weak match.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46520" y="5687568"/>
            <a:ext cx="343814" cy="292608"/>
          </a:xfrm>
          <a:prstGeom prst="roundRect">
            <a:avLst>
              <a:gd name="adj" fmla="val 50000"/>
            </a:avLst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5687568"/>
            <a:ext cx="34381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2C8058"/>
                </a:solidFill>
                <a:latin typeface="Consolas"/>
              </a:rPr>
              <a:t>M7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9299"/>
                </a:solidFill>
                <a:latin typeface="Consolas"/>
              </a:rPr>
              <a:t>TRAFFIC-VRAG · FIRST PROJECT 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B9299"/>
                </a:solidFill>
                <a:latin typeface="Consola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8B9299"/>
                </a:solidFill>
                <a:latin typeface="Consolas"/>
              </a:rPr>
              <a:t>08 ·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Georgia"/>
              </a:rP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502920" cy="50800"/>
          </a:xfrm>
          <a:prstGeom prst="rect">
            <a:avLst/>
          </a:prstGeom>
          <a:solidFill>
            <a:srgbClr val="B1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91640"/>
          <a:ext cx="108813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743200"/>
                <a:gridCol w="5760720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E9E6E0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109728" marR="91440" marT="36576" marB="36576" anchor="ctr">
                    <a:solidFill>
                      <a:srgbClr val="1115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E9E6E0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marL="109728" marR="91440" marT="36576" marB="36576" anchor="ctr">
                    <a:solidFill>
                      <a:srgbClr val="1115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E9E6E0"/>
                          </a:solidFill>
                          <a:latin typeface="Calibri"/>
                        </a:rPr>
                        <a:t>Choice</a:t>
                      </a:r>
                    </a:p>
                  </a:txBody>
                  <a:tcPr marL="109728" marR="91440" marT="36576" marB="36576" anchor="ctr">
                    <a:solidFill>
                      <a:srgbClr val="11151A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F24"/>
                          </a:solidFill>
                          <a:latin typeface="Consolas"/>
                        </a:rPr>
                        <a:t>Perception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F24"/>
                          </a:solidFill>
                          <a:latin typeface="Calibri"/>
                        </a:rPr>
                        <a:t>Detection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F24"/>
                          </a:solidFill>
                          <a:latin typeface="Calibri"/>
                        </a:rPr>
                        <a:t>YOLOv11m (Ultralytics)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F24"/>
                          </a:solidFill>
                          <a:latin typeface="Consolas"/>
                        </a:rPr>
                        <a:t/>
                      </a:r>
                    </a:p>
                  </a:txBody>
                  <a:tcPr marL="109728" marR="91440" marT="36576" marB="36576" anchor="ctr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F24"/>
                          </a:solidFill>
                          <a:latin typeface="Calibri"/>
                        </a:rPr>
                        <a:t>Tracking</a:t>
                      </a:r>
                    </a:p>
                  </a:txBody>
                  <a:tcPr marL="109728" marR="91440" marT="36576" marB="36576" anchor="ctr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F24"/>
                          </a:solidFill>
                          <a:latin typeface="Calibri"/>
                        </a:rPr>
                        <a:t>ByteTrack + OSNet re-ID</a:t>
                      </a:r>
                    </a:p>
                  </a:txBody>
                  <a:tcPr marL="109728" marR="91440" marT="36576" marB="36576" anchor="ctr">
                    <a:solidFill>
                      <a:srgbClr val="F7F5E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F24"/>
                          </a:solidFill>
                          <a:latin typeface="Consolas"/>
                        </a:rPr>
                        <a:t>Semantics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F24"/>
                          </a:solidFill>
                          <a:latin typeface="Calibri"/>
                        </a:rPr>
                        <a:t>Attributes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F24"/>
                          </a:solidFill>
                          <a:latin typeface="Calibri"/>
                        </a:rPr>
                        <a:t>Florence-2-base (VLM)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F24"/>
                          </a:solidFill>
                          <a:latin typeface="Consolas"/>
                        </a:rPr>
                        <a:t>Knowledge &amp; retrieval</a:t>
                      </a:r>
                    </a:p>
                  </a:txBody>
                  <a:tcPr marL="109728" marR="91440" marT="36576" marB="36576" anchor="ctr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F24"/>
                          </a:solidFill>
                          <a:latin typeface="Calibri"/>
                        </a:rPr>
                        <a:t>Graph database</a:t>
                      </a:r>
                    </a:p>
                  </a:txBody>
                  <a:tcPr marL="109728" marR="91440" marT="36576" marB="36576" anchor="ctr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F24"/>
                          </a:solidFill>
                          <a:latin typeface="Calibri"/>
                        </a:rPr>
                        <a:t>Neo4j 5</a:t>
                      </a:r>
                    </a:p>
                  </a:txBody>
                  <a:tcPr marL="109728" marR="91440" marT="36576" marB="36576" anchor="ctr">
                    <a:solidFill>
                      <a:srgbClr val="F7F5E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F24"/>
                          </a:solidFill>
                          <a:latin typeface="Consolas"/>
                        </a:rPr>
                        <a:t/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F24"/>
                          </a:solidFill>
                          <a:latin typeface="Calibri"/>
                        </a:rPr>
                        <a:t>Vector store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F24"/>
                          </a:solidFill>
                          <a:latin typeface="Calibri"/>
                        </a:rPr>
                        <a:t>ChromaDB + all-MiniLM-L6-v2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F24"/>
                          </a:solidFill>
                          <a:latin typeface="Consolas"/>
                        </a:rPr>
                        <a:t/>
                      </a:r>
                    </a:p>
                  </a:txBody>
                  <a:tcPr marL="109728" marR="91440" marT="36576" marB="36576" anchor="ctr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F24"/>
                          </a:solidFill>
                          <a:latin typeface="Calibri"/>
                        </a:rPr>
                        <a:t>Answer LLM</a:t>
                      </a:r>
                    </a:p>
                  </a:txBody>
                  <a:tcPr marL="109728" marR="91440" marT="36576" marB="36576" anchor="ctr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F24"/>
                          </a:solidFill>
                          <a:latin typeface="Calibri"/>
                        </a:rPr>
                        <a:t>Google Gemini (gemini-3.6-flash)</a:t>
                      </a:r>
                    </a:p>
                  </a:txBody>
                  <a:tcPr marL="109728" marR="91440" marT="36576" marB="36576" anchor="ctr">
                    <a:solidFill>
                      <a:srgbClr val="F7F5E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F24"/>
                          </a:solidFill>
                          <a:latin typeface="Consolas"/>
                        </a:rPr>
                        <a:t>Product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F24"/>
                          </a:solidFill>
                          <a:latin typeface="Calibri"/>
                        </a:rPr>
                        <a:t>API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F24"/>
                          </a:solidFill>
                          <a:latin typeface="Calibri"/>
                        </a:rPr>
                        <a:t>FastAPI + SQLite / DynamoDB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F24"/>
                          </a:solidFill>
                          <a:latin typeface="Consolas"/>
                        </a:rPr>
                        <a:t/>
                      </a:r>
                    </a:p>
                  </a:txBody>
                  <a:tcPr marL="109728" marR="91440" marT="36576" marB="36576" anchor="ctr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F24"/>
                          </a:solidFill>
                          <a:latin typeface="Calibri"/>
                        </a:rPr>
                        <a:t>Frontend</a:t>
                      </a:r>
                    </a:p>
                  </a:txBody>
                  <a:tcPr marL="109728" marR="91440" marT="36576" marB="36576" anchor="ctr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F24"/>
                          </a:solidFill>
                          <a:latin typeface="Calibri"/>
                        </a:rPr>
                        <a:t>React + Vite + Tailwind</a:t>
                      </a:r>
                    </a:p>
                  </a:txBody>
                  <a:tcPr marL="109728" marR="91440" marT="36576" marB="36576" anchor="ctr">
                    <a:solidFill>
                      <a:srgbClr val="F7F5E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F24"/>
                          </a:solidFill>
                          <a:latin typeface="Consolas"/>
                        </a:rPr>
                        <a:t/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F24"/>
                          </a:solidFill>
                          <a:latin typeface="Calibri"/>
                        </a:rPr>
                        <a:t>Deployment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F24"/>
                          </a:solidFill>
                          <a:latin typeface="Calibri"/>
                        </a:rPr>
                        <a:t>Docker Compose (+ optional S3/DynamoDB)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9299"/>
                </a:solidFill>
                <a:latin typeface="Consolas"/>
              </a:rPr>
              <a:t>TRAFFIC-VRAG · FIRST PROJECT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B9299"/>
                </a:solidFill>
                <a:latin typeface="Consola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8B9299"/>
                </a:solidFill>
                <a:latin typeface="Consolas"/>
              </a:rPr>
              <a:t>08 ·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Georgia"/>
              </a:rPr>
              <a:t>Product, evaluation &amp; deployment (M14–M17)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502920" cy="50800"/>
          </a:xfrm>
          <a:prstGeom prst="rect">
            <a:avLst/>
          </a:prstGeom>
          <a:solidFill>
            <a:srgbClr val="B1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633472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82296" cy="3566160"/>
          </a:xfrm>
          <a:prstGeom prst="rect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938528"/>
            <a:ext cx="2313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A6570"/>
                </a:solidFill>
                <a:latin typeface="Consolas"/>
              </a:rPr>
              <a:t>M14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212848"/>
            <a:ext cx="23134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F24"/>
                </a:solidFill>
                <a:latin typeface="Georgia"/>
              </a:rPr>
              <a:t>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542032"/>
            <a:ext cx="2313432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A6570"/>
                </a:solidFill>
                <a:latin typeface="Calibri"/>
              </a:rPr>
              <a:t>FastAPI backend; SQLite (or DynamoDB) tracks per-stage progress; the pipeline runs as a background job per upload.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828800"/>
            <a:ext cx="2633472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1828800"/>
            <a:ext cx="82296" cy="3566160"/>
          </a:xfrm>
          <a:prstGeom prst="rect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0168" y="1938528"/>
            <a:ext cx="2313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A6570"/>
                </a:solidFill>
                <a:latin typeface="Consolas"/>
              </a:rPr>
              <a:t>M15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212848"/>
            <a:ext cx="23134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F24"/>
                </a:solidFill>
                <a:latin typeface="Georgia"/>
              </a:rPr>
              <a:t>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2542032"/>
            <a:ext cx="2313432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A6570"/>
                </a:solidFill>
                <a:latin typeface="Calibri"/>
              </a:rPr>
              <a:t>React “Live Board”: hand-built SVG knowledge-graph view, scrubbable evidence timeline, per-vehicle photos.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828800"/>
            <a:ext cx="2633472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828800"/>
            <a:ext cx="82296" cy="3566160"/>
          </a:xfrm>
          <a:prstGeom prst="rect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1938528"/>
            <a:ext cx="2313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A6570"/>
                </a:solidFill>
                <a:latin typeface="Consolas"/>
              </a:rPr>
              <a:t>M16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2212848"/>
            <a:ext cx="23134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F24"/>
                </a:solidFill>
                <a:latin typeface="Georgia"/>
              </a:rPr>
              <a:t>Eval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2542032"/>
            <a:ext cx="2313432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A6570"/>
                </a:solidFill>
                <a:latin typeface="Calibri"/>
              </a:rPr>
              <a:t>Harness produces LaTeX result tables and ablations; refuses to score against unreviewed ground truth.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6840" y="1828800"/>
            <a:ext cx="2542032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06840" y="1828800"/>
            <a:ext cx="82296" cy="3566160"/>
          </a:xfrm>
          <a:prstGeom prst="rect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08008" y="1938528"/>
            <a:ext cx="22219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A6570"/>
                </a:solidFill>
                <a:latin typeface="Consolas"/>
              </a:rPr>
              <a:t>M17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08008" y="2212848"/>
            <a:ext cx="22219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F24"/>
                </a:solidFill>
                <a:latin typeface="Georgia"/>
              </a:rPr>
              <a:t>Deploy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08008" y="2542032"/>
            <a:ext cx="2221992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A6570"/>
                </a:solidFill>
                <a:latin typeface="Calibri"/>
              </a:rPr>
              <a:t>Docker Compose: Neo4j, ChromaDB, API, frontend. Optional S3 / DynamoDB backends, tested with localstack.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9299"/>
                </a:solidFill>
                <a:latin typeface="Consolas"/>
              </a:rPr>
              <a:t>TRAFFIC-VRAG · FIRST PROJECT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B9299"/>
                </a:solidFill>
                <a:latin typeface="Consola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BA4AC"/>
                </a:solidFill>
                <a:latin typeface="Consolas"/>
              </a:rPr>
              <a:t>SAMPLE RESULT — VERIFIED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9E6E0"/>
                </a:solidFill>
                <a:latin typeface="Georgia"/>
              </a:rPr>
              <a:t>A real question, answered end to 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10881360" cy="1417320"/>
          </a:xfrm>
          <a:prstGeom prst="roundRect">
            <a:avLst>
              <a:gd name="adj" fmla="val 5000"/>
            </a:avLst>
          </a:prstGeom>
          <a:solidFill>
            <a:srgbClr val="1B2128"/>
          </a:solidFill>
          <a:ln w="12700">
            <a:solidFill>
              <a:srgbClr val="333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BA4AC"/>
                </a:solidFill>
                <a:latin typeface="Consolas"/>
              </a:rPr>
              <a:t>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67712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E9E6E0"/>
                </a:solidFill>
                <a:latin typeface="Consolas"/>
              </a:rPr>
              <a:t>What color was the hatchback?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83280"/>
            <a:ext cx="10881360" cy="1417320"/>
          </a:xfrm>
          <a:prstGeom prst="roundRect">
            <a:avLst>
              <a:gd name="adj" fmla="val 5000"/>
            </a:avLst>
          </a:prstGeom>
          <a:solidFill>
            <a:srgbClr val="1B2128"/>
          </a:solidFill>
          <a:ln w="12700">
            <a:solidFill>
              <a:srgbClr val="333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63C095"/>
                </a:solidFill>
                <a:latin typeface="Consolas"/>
              </a:rPr>
              <a:t>ANSWER  (Gemini, grounded)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67912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E9E6E0"/>
                </a:solidFill>
                <a:latin typeface="Calibri"/>
              </a:rPr>
              <a:t>The hatchback </a:t>
            </a:r>
            <a:r>
              <a:rPr sz="1500" b="1" i="0">
                <a:solidFill>
                  <a:srgbClr val="F0A93B"/>
                </a:solidFill>
                <a:latin typeface="Consolas"/>
              </a:rPr>
              <a:t>[obj_0003 @ 22:18:06]</a:t>
            </a:r>
            <a:r>
              <a:rPr sz="1700" b="0" i="0">
                <a:solidFill>
                  <a:srgbClr val="E9E6E0"/>
                </a:solidFill>
                <a:latin typeface="Calibri"/>
              </a:rPr>
              <a:t> was white.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074920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9BA4AC"/>
                </a:solidFill>
                <a:latin typeface="Calibri"/>
              </a:rPr>
              <a:t>Verified on a live run of the full 11-stage pipeline: 3 vehicles detected, attributed and indexed; both a deterministic counting query and an LLM-grounded query with a validated citation returned correct answers.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8B9299"/>
                </a:solidFill>
                <a:latin typeface="Consolas"/>
              </a:rPr>
              <a:t>09 ·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Georgia"/>
              </a:rPr>
              <a:t>Implementation status &amp; evaluation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502920" cy="50800"/>
          </a:xfrm>
          <a:prstGeom prst="rect">
            <a:avLst/>
          </a:prstGeom>
          <a:solidFill>
            <a:srgbClr val="B1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B9299"/>
                </a:solidFill>
                <a:latin typeface="Consolas"/>
              </a:rPr>
              <a:t>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51206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2C8058"/>
                </a:solidFill>
                <a:latin typeface="Calibri"/>
              </a:rPr>
              <a:t>―  </a:t>
            </a:r>
            <a:r>
              <a:rPr sz="1400">
                <a:solidFill>
                  <a:srgbClr val="1A1F24"/>
                </a:solidFill>
                <a:latin typeface="Calibri"/>
              </a:rPr>
              <a:t>All 17 modules (M0–M17) implemented behind one CLI and one API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2C8058"/>
                </a:solidFill>
                <a:latin typeface="Calibri"/>
              </a:rPr>
              <a:t>―  </a:t>
            </a:r>
            <a:r>
              <a:rPr sz="1400">
                <a:solidFill>
                  <a:srgbClr val="1A1F24"/>
                </a:solidFill>
                <a:latin typeface="Calibri"/>
              </a:rPr>
              <a:t>442 automated tests passing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2C8058"/>
                </a:solidFill>
                <a:latin typeface="Calibri"/>
              </a:rPr>
              <a:t>―  </a:t>
            </a:r>
            <a:r>
              <a:rPr sz="1400">
                <a:solidFill>
                  <a:srgbClr val="1A1F24"/>
                </a:solidFill>
                <a:latin typeface="Calibri"/>
              </a:rPr>
              <a:t>Runs end to end via Docker Compose or the CLI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2C8058"/>
                </a:solidFill>
                <a:latin typeface="Calibri"/>
              </a:rPr>
              <a:t>―  </a:t>
            </a:r>
            <a:r>
              <a:rPr sz="1400">
                <a:solidFill>
                  <a:srgbClr val="1A1F24"/>
                </a:solidFill>
                <a:latin typeface="Calibri"/>
              </a:rPr>
              <a:t>Verified live: upload → full pipeline → cited answer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69164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B9299"/>
                </a:solidFill>
                <a:latin typeface="Consolas"/>
              </a:rPr>
              <a:t>EVALUATION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2103120"/>
            <a:ext cx="53949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1">
                <a:solidFill>
                  <a:srgbClr val="2C68A8"/>
                </a:solidFill>
                <a:latin typeface="Calibri"/>
              </a:rPr>
              <a:t>―  </a:t>
            </a:r>
            <a:r>
              <a:rPr sz="1300">
                <a:solidFill>
                  <a:srgbClr val="1A1F24"/>
                </a:solidFill>
                <a:latin typeface="Calibri"/>
              </a:rPr>
              <a:t>Tracking accuracy (MOTA, IDF1) against imported ground truth (MOT / UA-DETRAC formats)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1">
                <a:solidFill>
                  <a:srgbClr val="2C68A8"/>
                </a:solidFill>
                <a:latin typeface="Calibri"/>
              </a:rPr>
              <a:t>―  </a:t>
            </a:r>
            <a:r>
              <a:rPr sz="1300">
                <a:solidFill>
                  <a:srgbClr val="1A1F24"/>
                </a:solidFill>
                <a:latin typeface="Calibri"/>
              </a:rPr>
              <a:t>Attribute accuracy against hand-annotated colour/type labels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1">
                <a:solidFill>
                  <a:srgbClr val="2C68A8"/>
                </a:solidFill>
                <a:latin typeface="Calibri"/>
              </a:rPr>
              <a:t>―  </a:t>
            </a:r>
            <a:r>
              <a:rPr sz="1300">
                <a:solidFill>
                  <a:srgbClr val="1A1F24"/>
                </a:solidFill>
                <a:latin typeface="Calibri"/>
              </a:rPr>
              <a:t>QA accuracy vs. baseline captioning models, on held-out questions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1">
                <a:solidFill>
                  <a:srgbClr val="2C68A8"/>
                </a:solidFill>
                <a:latin typeface="Calibri"/>
              </a:rPr>
              <a:t>―  </a:t>
            </a:r>
            <a:r>
              <a:rPr sz="1300">
                <a:solidFill>
                  <a:srgbClr val="1A1F24"/>
                </a:solidFill>
                <a:latin typeface="Calibri"/>
              </a:rPr>
              <a:t>Metrics report as “not available” rather than zero until ground truth is reviewed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9299"/>
                </a:solidFill>
                <a:latin typeface="Consolas"/>
              </a:rPr>
              <a:t>TRAFFIC-VRAG · FIRST PROJECT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B9299"/>
                </a:solidFill>
                <a:latin typeface="Consola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8B9299"/>
                </a:solidFill>
                <a:latin typeface="Consolas"/>
              </a:rPr>
              <a:t>10 · HONEST ABOUT THE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Georgia"/>
              </a:rPr>
              <a:t>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502920" cy="50800"/>
          </a:xfrm>
          <a:prstGeom prst="rect">
            <a:avLst/>
          </a:prstGeom>
          <a:solidFill>
            <a:srgbClr val="B1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929384"/>
            <a:ext cx="1598371" cy="292608"/>
          </a:xfrm>
          <a:prstGeom prst="roundRect">
            <a:avLst>
              <a:gd name="adj" fmla="val 50000"/>
            </a:avLst>
          </a:prstGeom>
          <a:solidFill>
            <a:srgbClr val="F6E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29384"/>
            <a:ext cx="1598371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B1741A"/>
                </a:solidFill>
                <a:latin typeface="Consolas"/>
              </a:rPr>
              <a:t>ACCURACY CEILING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A1F24"/>
                </a:solidFill>
                <a:latin typeface="Georgia"/>
              </a:rPr>
              <a:t>Overhead camera viewpoint hurts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1911096"/>
            <a:ext cx="69951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A6570"/>
                </a:solidFill>
                <a:latin typeface="Calibri"/>
              </a:rPr>
              <a:t>YOLOv11m detects vehicles in only 5 of 11 frames on a hand-checked overhead sample — detection recall, not tracking or reasoning, is the current bottleneck.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16936"/>
            <a:ext cx="10881360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8680" y="3063240"/>
            <a:ext cx="1598371" cy="292608"/>
          </a:xfrm>
          <a:prstGeom prst="roundRect">
            <a:avLst>
              <a:gd name="adj" fmla="val 50000"/>
            </a:avLst>
          </a:prstGeom>
          <a:solidFill>
            <a:srgbClr val="F6E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063240"/>
            <a:ext cx="1598371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B1741A"/>
                </a:solidFill>
                <a:latin typeface="Consolas"/>
              </a:rPr>
              <a:t>TUNING TRADE-OFF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419856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A1F24"/>
                </a:solidFill>
                <a:latin typeface="Georgia"/>
              </a:rPr>
              <a:t>Frame-sampling interval is delicate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3044952"/>
            <a:ext cx="69951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A6570"/>
                </a:solidFill>
                <a:latin typeface="Calibri"/>
              </a:rPr>
              <a:t>At a 1.0s interval ByteTrack confirms zero tracks; denser sampling recovers more, at linear VLM cost.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050792"/>
            <a:ext cx="10881360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8680" y="4197096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E2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197096"/>
            <a:ext cx="15087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2C68A8"/>
                </a:solidFill>
                <a:latin typeface="Consolas"/>
              </a:rPr>
              <a:t>NEEDS MORE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553712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A1F24"/>
                </a:solidFill>
                <a:latin typeface="Georgia"/>
              </a:rPr>
              <a:t>Cross-clip linking (C4) is unexercised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4178808"/>
            <a:ext cx="69951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A6570"/>
                </a:solidFill>
                <a:latin typeface="Calibri"/>
              </a:rPr>
              <a:t>The demo footage is largely single-clip; a longer multi-clip video is needed to validate it on real data.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184648"/>
            <a:ext cx="10881360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68680" y="5330952"/>
            <a:ext cx="881481" cy="292608"/>
          </a:xfrm>
          <a:prstGeom prst="roundRect">
            <a:avLst>
              <a:gd name="adj" fmla="val 50000"/>
            </a:avLst>
          </a:prstGeom>
          <a:solidFill>
            <a:srgbClr val="F6E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330952"/>
            <a:ext cx="881481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B8433B"/>
                </a:solidFill>
                <a:latin typeface="Consolas"/>
              </a:rPr>
              <a:t>HARDWARE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687568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A1F24"/>
                </a:solidFill>
                <a:latin typeface="Georgia"/>
              </a:rPr>
              <a:t>Memory-constrained hosts need tuning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5312664"/>
            <a:ext cx="69951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A6570"/>
                </a:solidFill>
                <a:latin typeface="Calibri"/>
              </a:rPr>
              <a:t>Florence-2 needs roughly 2GB+ of free memory beyond other services; low-memory hosts need reduced batch settings or more RAM.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9299"/>
                </a:solidFill>
                <a:latin typeface="Consolas"/>
              </a:rPr>
              <a:t>TRAFFIC-VRAG · FIRST PROJECT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B9299"/>
                </a:solidFill>
                <a:latin typeface="Consola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8B9299"/>
                </a:solidFill>
                <a:latin typeface="Consolas"/>
              </a:rPr>
              <a:t>11 · LOOKING AHEAD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Georgia"/>
              </a:rPr>
              <a:t>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502920" cy="50800"/>
          </a:xfrm>
          <a:prstGeom prst="rect">
            <a:avLst/>
          </a:prstGeom>
          <a:solidFill>
            <a:srgbClr val="B1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2578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82296" cy="1828800"/>
          </a:xfrm>
          <a:prstGeom prst="rect">
            <a:avLst/>
          </a:prstGeom>
          <a:solidFill>
            <a:srgbClr val="B1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29968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A1F24"/>
                </a:solidFill>
                <a:latin typeface="Georgia"/>
              </a:rPr>
              <a:t>Fine-tune the detector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4754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A6570"/>
                </a:solidFill>
                <a:latin typeface="Calibri"/>
              </a:rPr>
              <a:t>Adapt YOLO to the overhead traffic-camera viewpoint to close the recall gap.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28800"/>
            <a:ext cx="52578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828800"/>
            <a:ext cx="82296" cy="1828800"/>
          </a:xfrm>
          <a:prstGeom prst="rect">
            <a:avLst/>
          </a:prstGeom>
          <a:solidFill>
            <a:srgbClr val="2C6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029968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A1F24"/>
                </a:solidFill>
                <a:latin typeface="Georgia"/>
              </a:rPr>
              <a:t>Validate cross-clip linking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514600"/>
            <a:ext cx="4754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A6570"/>
                </a:solidFill>
                <a:latin typeface="Calibri"/>
              </a:rPr>
              <a:t>Evaluate on a longer, multi-clip video where the same vehicle genuinely reappears.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31920"/>
            <a:ext cx="52578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931920"/>
            <a:ext cx="82296" cy="1828800"/>
          </a:xfrm>
          <a:prstGeom prst="rect">
            <a:avLst/>
          </a:prstGeom>
          <a:solidFill>
            <a:srgbClr val="2C8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33088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A1F24"/>
                </a:solidFill>
                <a:latin typeface="Georgia"/>
              </a:rPr>
              <a:t>GPU / cloud deployment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17720"/>
            <a:ext cx="4754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A6570"/>
                </a:solidFill>
                <a:latin typeface="Calibri"/>
              </a:rPr>
              <a:t>Move VLM inference to a GPU instance to remove the CPU memory ceiling entirely.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931920"/>
            <a:ext cx="52578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3931920"/>
            <a:ext cx="82296" cy="1828800"/>
          </a:xfrm>
          <a:prstGeom prst="rect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133088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A1F24"/>
                </a:solidFill>
                <a:latin typeface="Georgia"/>
              </a:rPr>
              <a:t>Complete the AWS backend option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617720"/>
            <a:ext cx="4754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A6570"/>
                </a:solidFill>
                <a:latin typeface="Calibri"/>
              </a:rPr>
              <a:t>Finish the DynamoDB / S3 backends already scaffolded, for a fully cloud-portable deployment.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9299"/>
                </a:solidFill>
                <a:latin typeface="Consolas"/>
              </a:rPr>
              <a:t>TRAFFIC-VRAG · FIRST PROJECT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B9299"/>
                </a:solidFill>
                <a:latin typeface="Consola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BA4AC"/>
                </a:solidFill>
                <a:latin typeface="Consola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E9E6E0"/>
                </a:solidFill>
                <a:latin typeface="Georgia"/>
              </a:rPr>
              <a:t>A working, tested pipeline that turns raw traffic video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331720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E9E6E0"/>
                </a:solidFill>
                <a:latin typeface="Georgia"/>
              </a:rPr>
              <a:t>into a knowledge graph you can </a:t>
            </a:r>
            <a:r>
              <a:rPr sz="2800" b="1" i="0">
                <a:solidFill>
                  <a:srgbClr val="F0A93B"/>
                </a:solidFill>
                <a:latin typeface="Georgia"/>
              </a:rPr>
              <a:t>question and trust</a:t>
            </a:r>
            <a:r>
              <a:rPr sz="2800" b="1" i="0">
                <a:solidFill>
                  <a:srgbClr val="E9E6E0"/>
                </a:solidFill>
                <a:latin typeface="Georgia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0584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F0A93B"/>
                </a:solidFill>
                <a:latin typeface="Calibri"/>
              </a:rPr>
              <a:t>―  </a:t>
            </a:r>
            <a:r>
              <a:rPr sz="1500">
                <a:solidFill>
                  <a:srgbClr val="9BA4AC"/>
                </a:solidFill>
                <a:latin typeface="Calibri"/>
              </a:rPr>
              <a:t>17 modules, 442 tests, 4 claimed research contributions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F0A93B"/>
                </a:solidFill>
                <a:latin typeface="Calibri"/>
              </a:rPr>
              <a:t>―  </a:t>
            </a:r>
            <a:r>
              <a:rPr sz="1500">
                <a:solidFill>
                  <a:srgbClr val="9BA4AC"/>
                </a:solidFill>
                <a:latin typeface="Calibri"/>
              </a:rPr>
              <a:t>Demonstrated end to end: upload → pipeline → cited answer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F0A93B"/>
                </a:solidFill>
                <a:latin typeface="Calibri"/>
              </a:rPr>
              <a:t>―  </a:t>
            </a:r>
            <a:r>
              <a:rPr sz="1500">
                <a:solidFill>
                  <a:srgbClr val="9BA4AC"/>
                </a:solidFill>
                <a:latin typeface="Calibri"/>
              </a:rPr>
              <a:t>Clear, honest limitations and a concrete plan to close them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49240"/>
            <a:ext cx="502920" cy="50800"/>
          </a:xfrm>
          <a:prstGeom prst="rect">
            <a:avLst/>
          </a:prstGeom>
          <a:solidFill>
            <a:srgbClr val="F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557784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E9E6E0"/>
                </a:solidFill>
                <a:latin typeface="Georgia"/>
              </a:rPr>
              <a:t>Thank you.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